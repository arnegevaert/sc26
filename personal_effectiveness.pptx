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19021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38827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05725927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2705990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88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922268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1216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9487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3723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160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2002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1624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722B4-67DF-FB7C-CE84-8EBF296E93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426FD6-EEA5-4365-2AA2-AB8B307DF6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/>
              <a:t>A computer with a single core can still run multiple programs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/>
              <a:t>This happens through switching rapidly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/>
              <a:t>You cannot actually multitask, what you’re doing is constantly switching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b="1"/>
              <a:t>PROBLEM:</a:t>
            </a:r>
            <a:r>
              <a:rPr b="0"/>
              <a:t> when you switch, you lose focus!</a:t>
            </a:r>
            <a:endParaRPr b="0"/>
          </a:p>
          <a:p>
            <a:pPr marL="217793" indent="-217793">
              <a:buFont typeface="Arial"/>
              <a:buChar char="–"/>
              <a:defRPr/>
            </a:pPr>
            <a:r>
              <a:rPr b="0"/>
              <a:t>Numbers don’t really matter here</a:t>
            </a:r>
            <a:endParaRPr b="0"/>
          </a:p>
          <a:p>
            <a:pPr marL="217793" indent="-217793">
              <a:buFont typeface="Arial"/>
              <a:buChar char="–"/>
              <a:defRPr/>
            </a:pPr>
            <a:r>
              <a:rPr b="0"/>
              <a:t>LESS context switching means:</a:t>
            </a:r>
            <a:endParaRPr b="0"/>
          </a:p>
          <a:p>
            <a:pPr marL="617843" lvl="1" indent="-217793">
              <a:buFont typeface="Arial"/>
              <a:buChar char="–"/>
              <a:defRPr/>
            </a:pPr>
            <a:r>
              <a:rPr b="0"/>
              <a:t>MORE productivity</a:t>
            </a:r>
            <a:endParaRPr b="0"/>
          </a:p>
          <a:p>
            <a:pPr marL="617843" lvl="1" indent="-217793">
              <a:buFont typeface="Arial"/>
              <a:buChar char="–"/>
              <a:defRPr/>
            </a:pPr>
            <a:r>
              <a:rPr b="0"/>
              <a:t>MORE fulfillment in the job done</a:t>
            </a:r>
            <a:endParaRPr b="0"/>
          </a:p>
          <a:p>
            <a:pPr marL="617843" lvl="1" indent="-217793">
              <a:buFont typeface="Arial"/>
              <a:buChar char="–"/>
              <a:defRPr/>
            </a:pPr>
            <a:r>
              <a:rPr b="0"/>
              <a:t>LESS anxiety</a:t>
            </a:r>
            <a:endParaRPr b="0"/>
          </a:p>
          <a:p>
            <a:pPr marL="617843" lvl="1" indent="-217793">
              <a:buFont typeface="Arial"/>
              <a:buChar char="–"/>
              <a:defRPr/>
            </a:pPr>
            <a:r>
              <a:rPr b="0"/>
              <a:t>LESS mental exhaustion</a:t>
            </a:r>
            <a:r>
              <a:rPr b="0"/>
              <a:t> </a:t>
            </a:r>
            <a:endParaRPr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C57E00-588A-15F1-7CA8-B1BBC2B8D8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7D8522-7B2A-2C24-6182-0AC847C93C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7427C8-1ADB-E490-0D6C-3FEAC2460D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F79004-6A1D-FCF0-0332-CC0645A18D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CAFEEA-3ECF-DBC5-B807-A7486EC66C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E86F74-CBA4-589C-7BD8-58398BBB06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5412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506775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27451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157174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8176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14630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7143478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990752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7650078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7152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783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700226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927877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274985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1444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2730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863583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155415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8550224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37237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3694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300110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365085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199040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857410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93318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783603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056022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4747960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3871447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725230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863844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7349880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2528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4738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4226145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0429374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6405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42389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844880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423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437079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09021878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919630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749751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4647617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3123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879000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1548290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5877427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100223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886901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54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7113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2846083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851057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183368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6521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47263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2603808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353587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9334198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3998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228886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493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3798986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8" y="1330497"/>
            <a:ext cx="10515600" cy="4846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8202317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5124248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470521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392237" name="Title 1"/>
          <p:cNvSpPr>
            <a:spLocks noGrp="1"/>
          </p:cNvSpPr>
          <p:nvPr>
            <p:ph type="ctrTitle"/>
          </p:nvPr>
        </p:nvSpPr>
        <p:spPr bwMode="auto">
          <a:xfrm>
            <a:off x="1523999" y="2235199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en-US" sz="8000"/>
              <a:t>Personal effectiveness</a:t>
            </a:r>
            <a:endParaRPr lang="en-US" sz="8000"/>
          </a:p>
        </p:txBody>
      </p:sp>
      <p:sp>
        <p:nvSpPr>
          <p:cNvPr id="123878611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710400"/>
            <a:ext cx="9144000" cy="1655762"/>
          </a:xfrm>
        </p:spPr>
        <p:txBody>
          <a:bodyPr/>
          <a:lstStyle/>
          <a:p>
            <a:pPr>
              <a:defRPr/>
            </a:pPr>
            <a:r>
              <a:rPr lang="en-US" sz="2600">
                <a:solidFill>
                  <a:schemeClr val="tx1">
                    <a:lumMod val="50000"/>
                    <a:lumOff val="50000"/>
                  </a:schemeClr>
                </a:solidFill>
              </a:rPr>
              <a:t>Saeyslab Conference 2026</a:t>
            </a:r>
            <a:endParaRPr sz="2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967821" name=""/>
          <p:cNvSpPr txBox="1"/>
          <p:nvPr/>
        </p:nvSpPr>
        <p:spPr bwMode="auto">
          <a:xfrm rot="0" flipH="0" flipV="0">
            <a:off x="151624" y="2468700"/>
            <a:ext cx="11890911" cy="1082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6500"/>
              <a:t>Rule 1: Do one thing at a time</a:t>
            </a:r>
            <a:endParaRPr sz="6500"/>
          </a:p>
        </p:txBody>
      </p:sp>
      <p:pic>
        <p:nvPicPr>
          <p:cNvPr id="1915365318" name=""/>
          <p:cNvPicPr>
            <a:picLocks noChangeAspect="1"/>
          </p:cNvPicPr>
          <p:nvPr/>
        </p:nvPicPr>
        <p:blipFill rotWithShape="1">
          <a:blip r:embed="rId3"/>
          <a:srcRect l="0" t="29761" r="64903" b="40047"/>
          <a:stretch/>
        </p:blipFill>
        <p:spPr bwMode="auto">
          <a:xfrm rot="20322927" flipH="0" flipV="0">
            <a:off x="187170" y="3664320"/>
            <a:ext cx="948123" cy="809624"/>
          </a:xfrm>
          <a:prstGeom prst="rect">
            <a:avLst/>
          </a:prstGeom>
        </p:spPr>
      </p:pic>
      <p:pic>
        <p:nvPicPr>
          <p:cNvPr id="827701753" name=""/>
          <p:cNvPicPr>
            <a:picLocks noChangeAspect="1"/>
          </p:cNvPicPr>
          <p:nvPr/>
        </p:nvPicPr>
        <p:blipFill rotWithShape="1">
          <a:blip r:embed="rId3"/>
          <a:srcRect l="36325" t="33476" r="37583" b="37915"/>
          <a:stretch/>
        </p:blipFill>
        <p:spPr bwMode="auto">
          <a:xfrm rot="1600751" flipH="0" flipV="0">
            <a:off x="1040156" y="1915215"/>
            <a:ext cx="704849" cy="767153"/>
          </a:xfrm>
          <a:prstGeom prst="rect">
            <a:avLst/>
          </a:prstGeom>
        </p:spPr>
      </p:pic>
      <p:pic>
        <p:nvPicPr>
          <p:cNvPr id="685301135" name=""/>
          <p:cNvPicPr>
            <a:picLocks noChangeAspect="1"/>
          </p:cNvPicPr>
          <p:nvPr/>
        </p:nvPicPr>
        <p:blipFill rotWithShape="1">
          <a:blip r:embed="rId3"/>
          <a:srcRect l="0" t="29761" r="64903" b="40047"/>
          <a:stretch/>
        </p:blipFill>
        <p:spPr bwMode="auto">
          <a:xfrm rot="1895539" flipH="1" flipV="0">
            <a:off x="11098960" y="3620437"/>
            <a:ext cx="948123" cy="809624"/>
          </a:xfrm>
          <a:prstGeom prst="rect">
            <a:avLst/>
          </a:prstGeom>
        </p:spPr>
      </p:pic>
      <p:pic>
        <p:nvPicPr>
          <p:cNvPr id="823809245" name=""/>
          <p:cNvPicPr>
            <a:picLocks noChangeAspect="1"/>
          </p:cNvPicPr>
          <p:nvPr/>
        </p:nvPicPr>
        <p:blipFill rotWithShape="1">
          <a:blip r:embed="rId3"/>
          <a:srcRect l="4231" t="0" r="64739" b="69807"/>
          <a:stretch/>
        </p:blipFill>
        <p:spPr bwMode="auto">
          <a:xfrm rot="3690420" flipH="0" flipV="0">
            <a:off x="2487876" y="1683677"/>
            <a:ext cx="838198" cy="809624"/>
          </a:xfrm>
          <a:prstGeom prst="rect">
            <a:avLst/>
          </a:prstGeom>
        </p:spPr>
      </p:pic>
      <p:pic>
        <p:nvPicPr>
          <p:cNvPr id="514194275" name=""/>
          <p:cNvPicPr>
            <a:picLocks noChangeAspect="1"/>
          </p:cNvPicPr>
          <p:nvPr/>
        </p:nvPicPr>
        <p:blipFill rotWithShape="1">
          <a:blip r:embed="rId3"/>
          <a:srcRect l="62884" t="0" r="3031" b="74957"/>
          <a:stretch/>
        </p:blipFill>
        <p:spPr bwMode="auto">
          <a:xfrm rot="19584842" flipH="1" flipV="0">
            <a:off x="7861294" y="1902924"/>
            <a:ext cx="920748" cy="671511"/>
          </a:xfrm>
          <a:prstGeom prst="rect">
            <a:avLst/>
          </a:prstGeom>
        </p:spPr>
      </p:pic>
      <p:pic>
        <p:nvPicPr>
          <p:cNvPr id="1671440771" name=""/>
          <p:cNvPicPr>
            <a:picLocks noChangeAspect="1"/>
          </p:cNvPicPr>
          <p:nvPr/>
        </p:nvPicPr>
        <p:blipFill rotWithShape="1">
          <a:blip r:embed="rId3"/>
          <a:srcRect l="62884" t="0" r="3031" b="74957"/>
          <a:stretch/>
        </p:blipFill>
        <p:spPr bwMode="auto">
          <a:xfrm rot="4667427" flipH="1" flipV="0">
            <a:off x="6571819" y="3746519"/>
            <a:ext cx="920748" cy="671511"/>
          </a:xfrm>
          <a:prstGeom prst="rect">
            <a:avLst/>
          </a:prstGeom>
        </p:spPr>
      </p:pic>
      <p:pic>
        <p:nvPicPr>
          <p:cNvPr id="1183295105" name=""/>
          <p:cNvPicPr>
            <a:picLocks noChangeAspect="1"/>
          </p:cNvPicPr>
          <p:nvPr/>
        </p:nvPicPr>
        <p:blipFill rotWithShape="1">
          <a:blip r:embed="rId3"/>
          <a:srcRect l="0" t="29761" r="64903" b="40047"/>
          <a:stretch/>
        </p:blipFill>
        <p:spPr bwMode="auto">
          <a:xfrm rot="4251977" flipH="0" flipV="0">
            <a:off x="5647784" y="1880052"/>
            <a:ext cx="948123" cy="809624"/>
          </a:xfrm>
          <a:prstGeom prst="rect">
            <a:avLst/>
          </a:prstGeom>
        </p:spPr>
      </p:pic>
      <p:pic>
        <p:nvPicPr>
          <p:cNvPr id="1581119377" name=""/>
          <p:cNvPicPr>
            <a:picLocks noChangeAspect="1"/>
          </p:cNvPicPr>
          <p:nvPr/>
        </p:nvPicPr>
        <p:blipFill rotWithShape="1">
          <a:blip r:embed="rId3"/>
          <a:srcRect l="0" t="29761" r="64903" b="40047"/>
          <a:stretch/>
        </p:blipFill>
        <p:spPr bwMode="auto">
          <a:xfrm rot="17794739" flipH="0" flipV="0">
            <a:off x="2664631" y="3796787"/>
            <a:ext cx="948123" cy="809624"/>
          </a:xfrm>
          <a:prstGeom prst="rect">
            <a:avLst/>
          </a:prstGeom>
        </p:spPr>
      </p:pic>
      <p:pic>
        <p:nvPicPr>
          <p:cNvPr id="1920738346" name=""/>
          <p:cNvPicPr>
            <a:picLocks noChangeAspect="1"/>
          </p:cNvPicPr>
          <p:nvPr/>
        </p:nvPicPr>
        <p:blipFill rotWithShape="1">
          <a:blip r:embed="rId3"/>
          <a:srcRect l="36325" t="33476" r="37583" b="37915"/>
          <a:stretch/>
        </p:blipFill>
        <p:spPr bwMode="auto">
          <a:xfrm rot="2753119" flipH="0" flipV="0">
            <a:off x="4064667" y="1840757"/>
            <a:ext cx="704848" cy="767152"/>
          </a:xfrm>
          <a:prstGeom prst="rect">
            <a:avLst/>
          </a:prstGeom>
        </p:spPr>
      </p:pic>
      <p:pic>
        <p:nvPicPr>
          <p:cNvPr id="1697781892" name=""/>
          <p:cNvPicPr>
            <a:picLocks noChangeAspect="1"/>
          </p:cNvPicPr>
          <p:nvPr/>
        </p:nvPicPr>
        <p:blipFill rotWithShape="1">
          <a:blip r:embed="rId3"/>
          <a:srcRect l="36325" t="33476" r="37583" b="37915"/>
          <a:stretch/>
        </p:blipFill>
        <p:spPr bwMode="auto">
          <a:xfrm rot="18781062" flipH="1" flipV="0">
            <a:off x="10083841" y="1802998"/>
            <a:ext cx="704848" cy="767152"/>
          </a:xfrm>
          <a:prstGeom prst="rect">
            <a:avLst/>
          </a:prstGeom>
        </p:spPr>
      </p:pic>
      <p:pic>
        <p:nvPicPr>
          <p:cNvPr id="776250641" name=""/>
          <p:cNvPicPr>
            <a:picLocks noChangeAspect="1"/>
          </p:cNvPicPr>
          <p:nvPr/>
        </p:nvPicPr>
        <p:blipFill rotWithShape="1">
          <a:blip r:embed="rId3"/>
          <a:srcRect l="36325" t="33476" r="37583" b="37915"/>
          <a:stretch/>
        </p:blipFill>
        <p:spPr bwMode="auto">
          <a:xfrm rot="2753119" flipH="1" flipV="0">
            <a:off x="8803234" y="3685556"/>
            <a:ext cx="704848" cy="767152"/>
          </a:xfrm>
          <a:prstGeom prst="rect">
            <a:avLst/>
          </a:prstGeom>
        </p:spPr>
      </p:pic>
      <p:pic>
        <p:nvPicPr>
          <p:cNvPr id="367055884" name=""/>
          <p:cNvPicPr>
            <a:picLocks noChangeAspect="1"/>
          </p:cNvPicPr>
          <p:nvPr/>
        </p:nvPicPr>
        <p:blipFill rotWithShape="1">
          <a:blip r:embed="rId3"/>
          <a:srcRect l="4231" t="0" r="64739" b="69807"/>
          <a:stretch/>
        </p:blipFill>
        <p:spPr bwMode="auto">
          <a:xfrm rot="3690420" flipH="1" flipV="0">
            <a:off x="4919971" y="3753149"/>
            <a:ext cx="838198" cy="809624"/>
          </a:xfrm>
          <a:prstGeom prst="rect">
            <a:avLst/>
          </a:prstGeom>
        </p:spPr>
      </p:pic>
      <p:sp>
        <p:nvSpPr>
          <p:cNvPr id="243759929" name=""/>
          <p:cNvSpPr txBox="1"/>
          <p:nvPr/>
        </p:nvSpPr>
        <p:spPr bwMode="auto">
          <a:xfrm rot="0" flipH="0" flipV="0">
            <a:off x="890693" y="5051341"/>
            <a:ext cx="1041061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200">
                <a:solidFill>
                  <a:schemeClr val="tx1">
                    <a:lumMod val="50000"/>
                    <a:lumOff val="50000"/>
                  </a:schemeClr>
                </a:solidFill>
              </a:rPr>
              <a:t>Rule 2: Make sure it’s the right thing</a:t>
            </a:r>
            <a:endParaRPr sz="4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96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78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9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29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73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0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0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6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11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05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44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5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30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497254" name="Title 1"/>
          <p:cNvSpPr>
            <a:spLocks noGrp="1"/>
          </p:cNvSpPr>
          <p:nvPr>
            <p:ph type="title"/>
          </p:nvPr>
        </p:nvSpPr>
        <p:spPr bwMode="auto">
          <a:xfrm>
            <a:off x="838199" y="2002631"/>
            <a:ext cx="10515600" cy="2852736"/>
          </a:xfrm>
        </p:spPr>
        <p:txBody>
          <a:bodyPr/>
          <a:lstStyle>
            <a:lvl1pPr>
              <a:defRPr sz="4500"/>
            </a:lvl1pPr>
          </a:lstStyle>
          <a:p>
            <a:pPr algn="ctr">
              <a:defRPr/>
            </a:pPr>
            <a:r>
              <a:rPr sz="8000" b="1"/>
              <a:t>Context Switching</a:t>
            </a:r>
            <a:endParaRPr sz="80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6796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/>
              <a:t>Context switching is literally Hitler</a:t>
            </a:r>
            <a:endParaRPr/>
          </a:p>
        </p:txBody>
      </p:sp>
      <p:sp>
        <p:nvSpPr>
          <p:cNvPr id="242960804" name=""/>
          <p:cNvSpPr txBox="1"/>
          <p:nvPr/>
        </p:nvSpPr>
        <p:spPr bwMode="auto">
          <a:xfrm rot="0" flipH="0" flipV="0">
            <a:off x="4409410" y="5990101"/>
            <a:ext cx="337461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i="1"/>
              <a:t>A Portrait of Context Switching</a:t>
            </a:r>
            <a:endParaRPr sz="1800" i="1"/>
          </a:p>
        </p:txBody>
      </p:sp>
      <p:pic>
        <p:nvPicPr>
          <p:cNvPr id="1404780408" name=""/>
          <p:cNvPicPr>
            <a:picLocks noChangeAspect="1"/>
          </p:cNvPicPr>
          <p:nvPr/>
        </p:nvPicPr>
        <p:blipFill rotWithShape="1">
          <a:blip r:embed="rId3"/>
          <a:srcRect l="19378" t="0" r="38225" b="0"/>
          <a:stretch/>
        </p:blipFill>
        <p:spPr bwMode="auto">
          <a:xfrm flipH="0" flipV="0">
            <a:off x="4273687" y="1128289"/>
            <a:ext cx="3644624" cy="4852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9044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Your phone: the Battle of the Somme</a:t>
            </a:r>
            <a:endParaRPr/>
          </a:p>
        </p:txBody>
      </p:sp>
      <p:sp>
        <p:nvSpPr>
          <p:cNvPr id="198625332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95910991" name=""/>
          <p:cNvGrpSpPr/>
          <p:nvPr/>
        </p:nvGrpSpPr>
        <p:grpSpPr bwMode="auto">
          <a:xfrm flipH="0" flipV="0">
            <a:off x="8290700" y="2383711"/>
            <a:ext cx="3229131" cy="2421848"/>
            <a:chOff x="0" y="0"/>
            <a:chExt cx="3229131" cy="2421848"/>
          </a:xfrm>
        </p:grpSpPr>
        <p:pic>
          <p:nvPicPr>
            <p:cNvPr id="661289427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flipH="0" flipV="0">
              <a:off x="0" y="0"/>
              <a:ext cx="3229131" cy="2421848"/>
            </a:xfrm>
            <a:prstGeom prst="rect">
              <a:avLst/>
            </a:prstGeom>
          </p:spPr>
        </p:pic>
        <p:pic>
          <p:nvPicPr>
            <p:cNvPr id="925063145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0809918" flipH="0" flipV="0">
              <a:off x="1452400" y="400622"/>
              <a:ext cx="854528" cy="480672"/>
            </a:xfrm>
            <a:prstGeom prst="rect">
              <a:avLst/>
            </a:prstGeom>
          </p:spPr>
        </p:pic>
        <p:pic>
          <p:nvPicPr>
            <p:cNvPr id="1135767899" name="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rot="20522798" flipH="0" flipV="0">
              <a:off x="2501643" y="806790"/>
              <a:ext cx="496765" cy="55637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0242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Email and instant messaging: the Ardennes Offensive</a:t>
            </a:r>
            <a:endParaRPr/>
          </a:p>
        </p:txBody>
      </p:sp>
      <p:grpSp>
        <p:nvGrpSpPr>
          <p:cNvPr id="1389057152" name=""/>
          <p:cNvGrpSpPr/>
          <p:nvPr/>
        </p:nvGrpSpPr>
        <p:grpSpPr bwMode="auto">
          <a:xfrm flipH="0" flipV="0">
            <a:off x="7730249" y="2015588"/>
            <a:ext cx="4060737" cy="3178795"/>
            <a:chOff x="0" y="0"/>
            <a:chExt cx="4060737" cy="3178795"/>
          </a:xfrm>
        </p:grpSpPr>
        <p:pic>
          <p:nvPicPr>
            <p:cNvPr id="424509748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flipH="0" flipV="0">
              <a:off x="0" y="0"/>
              <a:ext cx="4060737" cy="3178795"/>
            </a:xfrm>
            <a:prstGeom prst="rect">
              <a:avLst/>
            </a:prstGeom>
          </p:spPr>
        </p:pic>
        <p:pic>
          <p:nvPicPr>
            <p:cNvPr id="1067937951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19825382" flipH="0" flipV="0">
              <a:off x="772609" y="1259555"/>
              <a:ext cx="359060" cy="307164"/>
            </a:xfrm>
            <a:prstGeom prst="rect">
              <a:avLst/>
            </a:prstGeom>
          </p:spPr>
        </p:pic>
        <p:pic>
          <p:nvPicPr>
            <p:cNvPr id="1886863172" name="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rot="19924870" flipH="0" flipV="0">
              <a:off x="2423930" y="1186169"/>
              <a:ext cx="401849" cy="380551"/>
            </a:xfrm>
            <a:prstGeom prst="rect">
              <a:avLst/>
            </a:prstGeom>
          </p:spPr>
        </p:pic>
        <p:pic>
          <p:nvPicPr>
            <p:cNvPr id="532967584" name="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 rot="20385494" flipH="0" flipV="0">
              <a:off x="2891485" y="927823"/>
              <a:ext cx="402718" cy="374566"/>
            </a:xfrm>
            <a:prstGeom prst="rect">
              <a:avLst/>
            </a:prstGeom>
          </p:spPr>
        </p:pic>
      </p:grpSp>
      <p:sp>
        <p:nvSpPr>
          <p:cNvPr id="126862680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5800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Deep Work: the underground resistance</a:t>
            </a:r>
            <a:endParaRPr/>
          </a:p>
        </p:txBody>
      </p:sp>
      <p:sp>
        <p:nvSpPr>
          <p:cNvPr id="342696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571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024725249" name=""/>
          <p:cNvPicPr>
            <a:picLocks noChangeAspect="1"/>
          </p:cNvPicPr>
          <p:nvPr/>
        </p:nvPicPr>
        <p:blipFill rotWithShape="1">
          <a:blip r:embed="rId3"/>
          <a:srcRect l="36778" t="0" r="10453" b="0"/>
          <a:stretch/>
        </p:blipFill>
        <p:spPr bwMode="auto">
          <a:xfrm flipH="1" flipV="0">
            <a:off x="8555995" y="2661693"/>
            <a:ext cx="2988303" cy="3777206"/>
          </a:xfrm>
          <a:prstGeom prst="rect">
            <a:avLst/>
          </a:prstGeom>
        </p:spPr>
      </p:pic>
      <p:sp>
        <p:nvSpPr>
          <p:cNvPr id="95820823" name=""/>
          <p:cNvSpPr/>
          <p:nvPr/>
        </p:nvSpPr>
        <p:spPr bwMode="auto">
          <a:xfrm rot="0" flipH="0" flipV="0">
            <a:off x="6773546" y="342900"/>
            <a:ext cx="3676649" cy="2419349"/>
          </a:xfrm>
          <a:prstGeom prst="wedgeEllipseCallout">
            <a:avLst>
              <a:gd name="adj1" fmla="val 43023"/>
              <a:gd name="adj2" fmla="val 1090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I read and understood all of the solutions, but I still failed the exam!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280054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44409" y="2161595"/>
            <a:ext cx="2550749" cy="2534807"/>
          </a:xfrm>
          <a:prstGeom prst="rect">
            <a:avLst/>
          </a:prstGeom>
        </p:spPr>
      </p:pic>
      <p:sp>
        <p:nvSpPr>
          <p:cNvPr id="1171910016" name=""/>
          <p:cNvSpPr txBox="1"/>
          <p:nvPr/>
        </p:nvSpPr>
        <p:spPr bwMode="auto">
          <a:xfrm rot="0" flipH="0" flipV="0">
            <a:off x="97200" y="4857750"/>
            <a:ext cx="4036109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/>
              <a:t>0 Roentgen</a:t>
            </a:r>
            <a:endParaRPr sz="2200" b="1"/>
          </a:p>
          <a:p>
            <a:pPr algn="ctr">
              <a:defRPr/>
            </a:pPr>
            <a:r>
              <a:rPr sz="2200" i="1"/>
              <a:t>“We did everything </a:t>
            </a:r>
            <a:r>
              <a:rPr sz="2200" i="1"/>
              <a:t>right”</a:t>
            </a:r>
            <a:endParaRPr sz="2200" i="1"/>
          </a:p>
        </p:txBody>
      </p:sp>
      <p:pic>
        <p:nvPicPr>
          <p:cNvPr id="1733486310" name=""/>
          <p:cNvPicPr>
            <a:picLocks noChangeAspect="1"/>
          </p:cNvPicPr>
          <p:nvPr/>
        </p:nvPicPr>
        <p:blipFill rotWithShape="1">
          <a:blip r:embed="rId4"/>
          <a:srcRect l="29958" t="6049" r="0" b="6761"/>
          <a:stretch/>
        </p:blipFill>
        <p:spPr bwMode="auto">
          <a:xfrm flipH="0" flipV="0">
            <a:off x="8803049" y="2337809"/>
            <a:ext cx="3007949" cy="2106180"/>
          </a:xfrm>
          <a:prstGeom prst="rect">
            <a:avLst/>
          </a:prstGeom>
        </p:spPr>
      </p:pic>
      <p:sp>
        <p:nvSpPr>
          <p:cNvPr id="1286417342" name=""/>
          <p:cNvSpPr txBox="1"/>
          <p:nvPr/>
        </p:nvSpPr>
        <p:spPr bwMode="auto">
          <a:xfrm rot="0" flipH="0" flipV="0">
            <a:off x="7945979" y="4857750"/>
            <a:ext cx="4055549" cy="10976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/>
              <a:t>15000 Roentgen</a:t>
            </a:r>
            <a:endParaRPr sz="2200" b="1"/>
          </a:p>
          <a:p>
            <a:pPr algn="ctr">
              <a:defRPr/>
            </a:pPr>
            <a:r>
              <a:rPr sz="2200" i="1"/>
              <a:t>“It exploded. The core exploded.</a:t>
            </a:r>
            <a:r>
              <a:rPr sz="2200" i="1"/>
              <a:t>”</a:t>
            </a:r>
            <a:endParaRPr sz="2200" i="1"/>
          </a:p>
        </p:txBody>
      </p:sp>
      <p:pic>
        <p:nvPicPr>
          <p:cNvPr id="804509454" name=""/>
          <p:cNvPicPr>
            <a:picLocks noChangeAspect="1"/>
          </p:cNvPicPr>
          <p:nvPr/>
        </p:nvPicPr>
        <p:blipFill rotWithShape="1">
          <a:blip r:embed="rId5"/>
          <a:srcRect l="24022" t="0" r="38643" b="0"/>
          <a:stretch/>
        </p:blipFill>
        <p:spPr bwMode="auto">
          <a:xfrm flipH="0" flipV="0">
            <a:off x="5997910" y="1924049"/>
            <a:ext cx="1948069" cy="2933699"/>
          </a:xfrm>
          <a:prstGeom prst="rect">
            <a:avLst/>
          </a:prstGeom>
        </p:spPr>
      </p:pic>
      <p:sp>
        <p:nvSpPr>
          <p:cNvPr id="1715942133" name=""/>
          <p:cNvSpPr txBox="1"/>
          <p:nvPr/>
        </p:nvSpPr>
        <p:spPr bwMode="auto">
          <a:xfrm rot="0" flipH="0" flipV="0">
            <a:off x="4766579" y="5143499"/>
            <a:ext cx="4046909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/>
              <a:t>3.6 Roentgen</a:t>
            </a:r>
            <a:endParaRPr sz="2200" b="1"/>
          </a:p>
          <a:p>
            <a:pPr algn="ctr">
              <a:defRPr/>
            </a:pPr>
            <a:r>
              <a:rPr sz="2200" i="1"/>
              <a:t>“Not great, not terrible</a:t>
            </a:r>
            <a:r>
              <a:rPr sz="2200" i="1"/>
              <a:t>”</a:t>
            </a:r>
            <a:endParaRPr sz="220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2026-08-13T09:36:58Z</dcterms:modified>
</cp:coreProperties>
</file>